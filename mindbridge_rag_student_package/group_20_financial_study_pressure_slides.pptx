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85800" y="77724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200" b="1">
                <a:solidFill>
                  <a:srgbClr val="102A43"/>
                </a:solidFill>
                <a:latin typeface="Aptos"/>
              </a:rPr>
              <a:t>MindBridge-RAG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96596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334155"/>
                </a:solidFill>
                <a:latin typeface="Aptos"/>
              </a:rPr>
              <a:t>Safety-aware retrieval-augmented assistant for student wellbeing and academic support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520" y="4206240"/>
            <a:ext cx="493776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FFFFFF"/>
                </a:solidFill>
                <a:latin typeface="Aptos"/>
              </a:rPr>
              <a:t>Group 20: Financial Study Pressure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5989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| MindBridge-RAG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Team and Topic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14300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Abdullah (23018020054): full application backend, frontend, database, RAG pipeline, corpus and CSV completion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Usman (008): benchmark review, risk-label checking, and evaluation support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Assigned topic: financial study pressure among university students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20 - Financial Study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143000"/>
            <a:ext cx="672084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Money worries affect focus, attendance, sleep, motivation, and continuation decisions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Students may hesitate to ask for help because of shame, confusion, or fear of judgment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A normal chatbot may answer generally but miss grounding, campus support paths, or safety boundaries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20 - Financial Study Pressure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8120" y="1143000"/>
            <a:ext cx="3474720" cy="4160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/>
          <a:lstStyle/>
          <a:p>
            <a:r>
              <a:rPr lang="en-US" sz="1800" b="0">
                <a:solidFill>
                  <a:srgbClr val="102A43"/>
                </a:solidFill>
                <a:latin typeface="Aptos"/>
              </a:rPr>
              <a:t>Goal</a:t>
            </a:r>
          </a:p>
          <a:p>
            <a:r>
              <a:rPr lang="en-US" sz="1800" b="0">
                <a:solidFill>
                  <a:srgbClr val="102A43"/>
                </a:solidFill>
                <a:latin typeface="Aptos"/>
              </a:rPr>
              <a:t>Use trusted corpus retrieval plus safety rules to produce practical, grounded student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Dataset Contribution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123444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000" b="1">
                <a:solidFill>
                  <a:srgbClr val="2563EB"/>
                </a:solidFill>
                <a:latin typeface="Aptos"/>
              </a:rPr>
              <a:t>7</a:t>
            </a:r>
          </a:p>
          <a:p>
            <a:r>
              <a:rPr lang="en-US" sz="2000" b="1">
                <a:solidFill>
                  <a:srgbClr val="2563EB"/>
                </a:solidFill>
                <a:latin typeface="Aptos"/>
              </a:rPr>
              <a:t>Safe sources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34839" y="123444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000" b="1">
                <a:solidFill>
                  <a:srgbClr val="06B6D4"/>
                </a:solidFill>
                <a:latin typeface="Aptos"/>
              </a:rPr>
              <a:t>31</a:t>
            </a:r>
          </a:p>
          <a:p>
            <a:r>
              <a:rPr lang="en-US" sz="2000" b="1">
                <a:solidFill>
                  <a:srgbClr val="06B6D4"/>
                </a:solidFill>
                <a:latin typeface="Aptos"/>
              </a:rPr>
              <a:t>Corpus chunks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83879" y="123444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000" b="1">
                <a:solidFill>
                  <a:srgbClr val="059669"/>
                </a:solidFill>
                <a:latin typeface="Aptos"/>
              </a:rPr>
              <a:t>30</a:t>
            </a:r>
          </a:p>
          <a:p>
            <a:r>
              <a:rPr lang="en-US" sz="2000" b="1">
                <a:solidFill>
                  <a:srgbClr val="059669"/>
                </a:solidFill>
                <a:latin typeface="Aptos"/>
              </a:rPr>
              <a:t>Benchmark questions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3108959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000" b="1">
                <a:solidFill>
                  <a:srgbClr val="D97706"/>
                </a:solidFill>
                <a:latin typeface="Aptos"/>
              </a:rPr>
              <a:t>30</a:t>
            </a:r>
          </a:p>
          <a:p>
            <a:r>
              <a:rPr lang="en-US" sz="2000" b="1">
                <a:solidFill>
                  <a:srgbClr val="D97706"/>
                </a:solidFill>
                <a:latin typeface="Aptos"/>
              </a:rPr>
              <a:t>Ideal answers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4839" y="3108959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000" b="1">
                <a:solidFill>
                  <a:srgbClr val="DC2626"/>
                </a:solidFill>
                <a:latin typeface="Aptos"/>
              </a:rPr>
              <a:t>30</a:t>
            </a:r>
          </a:p>
          <a:p>
            <a:r>
              <a:rPr lang="en-US" sz="2000" b="1">
                <a:solidFill>
                  <a:srgbClr val="DC2626"/>
                </a:solidFill>
                <a:latin typeface="Aptos"/>
              </a:rPr>
              <a:t>Risk labels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83879" y="3108959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000" b="1">
                <a:solidFill>
                  <a:srgbClr val="7C3AED"/>
                </a:solidFill>
                <a:latin typeface="Aptos"/>
              </a:rPr>
              <a:t>30</a:t>
            </a:r>
          </a:p>
          <a:p>
            <a:r>
              <a:rPr lang="en-US" sz="2000" b="1">
                <a:solidFill>
                  <a:srgbClr val="7C3AED"/>
                </a:solidFill>
                <a:latin typeface="Aptos"/>
              </a:rPr>
              <a:t>Evaluations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5800" y="51663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0">
                <a:solidFill>
                  <a:srgbClr val="334155"/>
                </a:solidFill>
                <a:latin typeface="Aptos"/>
              </a:rPr>
              <a:t>All CSV templates are filled with consistent G20 IDs, safe risk labels, and no private student stories.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Risk Labels and Safety Coverage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1143000"/>
            <a:ext cx="1828800" cy="3840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  <a:latin typeface="Aptos"/>
              </a:rPr>
              <a:t>L0_NORMAL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88920" y="1143000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2563EB"/>
                </a:solidFill>
                <a:latin typeface="Aptos"/>
              </a:rPr>
              <a:t>10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29000" y="1143000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334155"/>
                </a:solidFill>
                <a:latin typeface="Aptos"/>
              </a:rPr>
              <a:t>General financial/academic support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520" y="1828800"/>
            <a:ext cx="1828800" cy="3840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  <a:latin typeface="Aptos"/>
              </a:rPr>
              <a:t>L1_STRESS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88920" y="1828800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2563EB"/>
                </a:solidFill>
                <a:latin typeface="Aptos"/>
              </a:rPr>
              <a:t>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9000" y="1828800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334155"/>
                </a:solidFill>
                <a:latin typeface="Aptos"/>
              </a:rPr>
              <a:t>Mild stress and worry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520" y="2514600"/>
            <a:ext cx="1828800" cy="3840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  <a:latin typeface="Aptos"/>
              </a:rPr>
              <a:t>L2_DISTRESS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88920" y="2514600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29000" y="2514600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334155"/>
                </a:solidFill>
                <a:latin typeface="Aptos"/>
              </a:rPr>
              <a:t>Overwhelm or hopelessness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520" y="3200400"/>
            <a:ext cx="1828800" cy="3840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  <a:latin typeface="Aptos"/>
              </a:rPr>
              <a:t>L3_CRISIS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88920" y="3200400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29000" y="3200400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334155"/>
                </a:solidFill>
                <a:latin typeface="Aptos"/>
              </a:rPr>
              <a:t>Self-harm or immediate danger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1520" y="3886200"/>
            <a:ext cx="1828800" cy="3840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  <a:latin typeface="Aptos"/>
              </a:rPr>
              <a:t>L4_MEDICAL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88920" y="3886200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29000" y="3886200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334155"/>
                </a:solidFill>
                <a:latin typeface="Aptos"/>
              </a:rPr>
              <a:t>Diagnosis or medication boundary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1520" y="4572000"/>
            <a:ext cx="1828800" cy="38404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/>
          <a:lstStyle/>
          <a:p>
            <a:r>
              <a:rPr lang="en-US" sz="1500" b="1">
                <a:solidFill>
                  <a:srgbClr val="FFFFFF"/>
                </a:solidFill>
                <a:latin typeface="Aptos"/>
              </a:rPr>
              <a:t>L5_OUT_OF_SCOPE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88920" y="4572000"/>
            <a:ext cx="59436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29000" y="4572000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0">
                <a:solidFill>
                  <a:srgbClr val="334155"/>
                </a:solidFill>
                <a:latin typeface="Aptos"/>
              </a:rPr>
              <a:t>Fraud or unsafe requests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1520" y="56692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DC2626"/>
                </a:solidFill>
                <a:latin typeface="Aptos"/>
              </a:rPr>
              <a:t>Safety rule: crisis cases escalate to human support; medical cases refuse diagnosis/medication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Corpus Scope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14300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Tuition fees, living expenses, emergency costs, student debt, part-time work, scholarships, and aid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Mental and academic impacts: concentration, dropout risk, wellbeing, and social isolation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Institutional support: financial aid office, emergency funds, financial counselling, peer networks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Specific cases: international students, postgraduate students, mature learners, and housing pressure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20 - Financial Study Pressure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Application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1234440"/>
            <a:ext cx="4800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1800" b="1">
                <a:solidFill>
                  <a:srgbClr val="102A43"/>
                </a:solidFill>
                <a:latin typeface="Aptos"/>
              </a:rPr>
              <a:t>Frontend</a:t>
            </a:r>
          </a:p>
          <a:p>
            <a:r>
              <a:rPr lang="en-US" sz="1800" b="1">
                <a:solidFill>
                  <a:srgbClr val="102A43"/>
                </a:solidFill>
                <a:latin typeface="Aptos"/>
              </a:rPr>
              <a:t>Next.js chat UI
Conversation sidebar
Parameter controls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17920" y="1234440"/>
            <a:ext cx="4800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1800" b="1">
                <a:solidFill>
                  <a:srgbClr val="102A43"/>
                </a:solidFill>
                <a:latin typeface="Aptos"/>
              </a:rPr>
              <a:t>Backend API</a:t>
            </a:r>
          </a:p>
          <a:p>
            <a:r>
              <a:rPr lang="en-US" sz="1800" b="1">
                <a:solidFill>
                  <a:srgbClr val="102A43"/>
                </a:solidFill>
                <a:latin typeface="Aptos"/>
              </a:rPr>
              <a:t>FastAPI endpoints
Conversation storage
RAG orchestration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3154680"/>
            <a:ext cx="4800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1800" b="1">
                <a:solidFill>
                  <a:srgbClr val="102A43"/>
                </a:solidFill>
                <a:latin typeface="Aptos"/>
              </a:rPr>
              <a:t>Database + Vector</a:t>
            </a:r>
          </a:p>
          <a:p>
            <a:r>
              <a:rPr lang="en-US" sz="1800" b="1">
                <a:solidFill>
                  <a:srgbClr val="102A43"/>
                </a:solidFill>
                <a:latin typeface="Aptos"/>
              </a:rPr>
              <a:t>Postgres + pgvector
Corpus chunks
Message history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17920" y="3154680"/>
            <a:ext cx="480060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1800" b="1">
                <a:solidFill>
                  <a:srgbClr val="102A43"/>
                </a:solidFill>
                <a:latin typeface="Aptos"/>
              </a:rPr>
              <a:t>AI Services</a:t>
            </a:r>
          </a:p>
          <a:p>
            <a:r>
              <a:rPr lang="en-US" sz="1800" b="1">
                <a:solidFill>
                  <a:srgbClr val="102A43"/>
                </a:solidFill>
                <a:latin typeface="Aptos"/>
              </a:rPr>
              <a:t>Mistral chat model
Mistral embeddings
Safety-aware prompt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2960" y="54406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 b="1">
                <a:solidFill>
                  <a:srgbClr val="334155"/>
                </a:solidFill>
                <a:latin typeface="Aptos"/>
              </a:rPr>
              <a:t>Flow: user message -&gt; recent chat context -&gt; vector retrieval -&gt; grounded RAG answer -&gt; saved conversation.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Continuous RAG Chat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14300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Retrieve using current question plus recent conversation questions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Fetch top matching chunks from pgvector instead of only one raw answer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Generate a RAG answer from retrieved context and recent chat history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Save user message, baseline Mistral response, RAG answer, similarity, categories, and sources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Follow-up questions keep context from the same conversation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20 - Financial Study Pressure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Safety-Aware Response Rules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14300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L3 crisis: do not continue normal chatbot advice; recommend urgent human support and emergency/campus help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L4 medical boundary: do not diagnose or recommend medication; refer to qualified professionals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L5 out-of-scope: refuse fraud, fake documents, or deceptive requests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Keep advice practical: financial aid office, emergency funds, budgeting, study blocks, trusted support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20 - Financial Study Pressure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Human Evaluation Summary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123444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334155"/>
                </a:solidFill>
                <a:latin typeface="Aptos"/>
              </a:rPr>
              <a:t>Relevance</a:t>
            </a:r>
          </a:p>
        </p:txBody>
      </p:sp>
      <p:sp>
        <p:nvSpPr>
          <p:cNvPr id="30" name="Rect 30"/>
          <p:cNvSpPr/>
          <p:nvPr/>
        </p:nvSpPr>
        <p:spPr>
          <a:xfrm>
            <a:off x="2926080" y="1289304"/>
            <a:ext cx="448238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7408468" y="1289304"/>
            <a:ext cx="729691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366760" y="1234440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059669"/>
                </a:solidFill>
                <a:latin typeface="Aptos"/>
              </a:rPr>
              <a:t>4.30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194767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334155"/>
                </a:solidFill>
                <a:latin typeface="Aptos"/>
              </a:rPr>
              <a:t>Helpfulness</a:t>
            </a:r>
          </a:p>
        </p:txBody>
      </p:sp>
      <p:sp>
        <p:nvSpPr>
          <p:cNvPr id="31" name="Rect 31"/>
          <p:cNvSpPr/>
          <p:nvPr/>
        </p:nvSpPr>
        <p:spPr>
          <a:xfrm>
            <a:off x="2926080" y="2002536"/>
            <a:ext cx="448238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7408468" y="2002536"/>
            <a:ext cx="729691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8366760" y="194767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059669"/>
                </a:solidFill>
                <a:latin typeface="Aptos"/>
              </a:rPr>
              <a:t>4.30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266090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334155"/>
                </a:solidFill>
                <a:latin typeface="Aptos"/>
              </a:rPr>
              <a:t>Faithfulness</a:t>
            </a:r>
          </a:p>
        </p:txBody>
      </p:sp>
      <p:sp>
        <p:nvSpPr>
          <p:cNvPr id="32" name="Rect 32"/>
          <p:cNvSpPr/>
          <p:nvPr/>
        </p:nvSpPr>
        <p:spPr>
          <a:xfrm>
            <a:off x="2926080" y="2715768"/>
            <a:ext cx="3825666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6751746" y="2715768"/>
            <a:ext cx="1386413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8366760" y="2660904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059669"/>
                </a:solidFill>
                <a:latin typeface="Aptos"/>
              </a:rPr>
              <a:t>3.67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337413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334155"/>
                </a:solidFill>
                <a:latin typeface="Aptos"/>
              </a:rPr>
              <a:t>Safety</a:t>
            </a:r>
          </a:p>
        </p:txBody>
      </p:sp>
      <p:sp>
        <p:nvSpPr>
          <p:cNvPr id="33" name="Rect 33"/>
          <p:cNvSpPr/>
          <p:nvPr/>
        </p:nvSpPr>
        <p:spPr>
          <a:xfrm>
            <a:off x="2926080" y="3429000"/>
            <a:ext cx="448238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7408468" y="3429000"/>
            <a:ext cx="729691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366760" y="3374136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059669"/>
                </a:solidFill>
                <a:latin typeface="Aptos"/>
              </a:rPr>
              <a:t>4.30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960" y="408736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334155"/>
                </a:solidFill>
                <a:latin typeface="Aptos"/>
              </a:rPr>
              <a:t>Clarity</a:t>
            </a:r>
          </a:p>
        </p:txBody>
      </p:sp>
      <p:sp>
        <p:nvSpPr>
          <p:cNvPr id="34" name="Rect 34"/>
          <p:cNvSpPr/>
          <p:nvPr/>
        </p:nvSpPr>
        <p:spPr>
          <a:xfrm>
            <a:off x="2926080" y="4142232"/>
            <a:ext cx="4513661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7439741" y="4142232"/>
            <a:ext cx="698418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8366760" y="4087368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 b="1">
                <a:solidFill>
                  <a:srgbClr val="059669"/>
                </a:solidFill>
                <a:latin typeface="Aptos"/>
              </a:rPr>
              <a:t>4.33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22960" y="5166360"/>
            <a:ext cx="9784080" cy="548640"/>
          </a:xfrm>
          <a:prstGeom prst="round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/>
          <a:lstStyle/>
          <a:p>
            <a:r>
              <a:rPr lang="en-US" sz="1800" b="1">
                <a:solidFill>
                  <a:srgbClr val="102A43"/>
                </a:solidFill>
                <a:latin typeface="Aptos"/>
              </a:rPr>
              <a:t>Finding: safety-aware RAG improves grounding and boundary handling compared with a basic chatbot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Key Observations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14300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Financial pressure needs practical steps and emotionally careful language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Basic RAG gives grounding but may not handle crisis or medical boundaries alone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Safety-aware RAG gives clearer escalation and refusal behavior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Students benefit from specific next actions: email/call financial aid, ask about payment plans, and involve trusted support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20 - Financial Study Pressure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411480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700" b="1">
                <a:solidFill>
                  <a:srgbClr val="102A43"/>
                </a:solidFill>
                <a:latin typeface="Aptos"/>
              </a:rPr>
              <a:t>Conclusion and Contribution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143000"/>
            <a:ext cx="10789920" cy="4480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Group 20 contributed a complete financial study pressure dataset and evaluation package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The app now supports a real continuous RAG flow using chat history, vector retrieval, and grounded generation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This supports the final paper comparison: S0 basic chatbot vs S1 basic RAG vs S2 safety-aware RAG</a:t>
            </a:r>
          </a:p>
          <a:p>
            <a:pPr>
              <a:buChar char="•"/>
            </a:pPr>
            <a:r>
              <a:rPr lang="en-US" sz="2000" b="0">
                <a:solidFill>
                  <a:srgbClr val="334155"/>
                </a:solidFill>
                <a:latin typeface="Aptos"/>
              </a:rPr>
              <a:t>Future work: add more campus-specific resources, multilingual examples, and larger human evaluation coverage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000" b="0">
                <a:solidFill>
                  <a:srgbClr val="64748B"/>
                </a:solidFill>
                <a:latin typeface="Aptos"/>
              </a:rPr>
              <a:t>Group 20 - Financial Study Pressure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dBridge">
  <a:themeElements>
    <a:clrScheme name="MindBridge">
      <a:dk1>
        <a:srgbClr val="102A43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6B6D4"/>
      </a:accent2>
      <a:accent3>
        <a:srgbClr val="059669"/>
      </a:accent3>
      <a:accent4>
        <a:srgbClr val="D97706"/>
      </a:accent4>
      <a:accent5>
        <a:srgbClr val="DC2626"/>
      </a:accent5>
      <a:accent6>
        <a:srgbClr val="7C3AED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MindBridg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Company>Group 20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MindBridge-RAG Group 20 Slides</dc:title>
  <dc:creator>Group 20</dc:creator>
  <cp:lastModifiedBy>Codex</cp:lastModifiedBy>
  <dcterms:created xsi:type="dcterms:W3CDTF">2026-06-07T17:56:56.288110+00:00</dcterms:created>
  <dcterms:modified xsi:type="dcterms:W3CDTF">2026-06-07T17:56:56.288110+00:00</dcterms:modified>
</cp:coreProperties>
</file>